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F5F2EB"/>
          </a:solidFill>
          <a:ln w="381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0"/>
          <a:lstStyle/>
          <a:p>
            <a:pPr algn="ctr">
              <a:defRPr sz="1200" b="1">
                <a:solidFill>
                  <a:srgbClr val="C41E24"/>
                </a:solidFill>
                <a:latin typeface="Space Grotesk"/>
              </a:defRPr>
            </a:pPr>
            <a:r>
              <a:t>⚡ CREATIVE FRAMEWORK BLUEPRINT</a:t>
            </a:r>
          </a:p>
          <a:p>
            <a:pPr>
              <a:defRPr sz="6400" b="1">
                <a:solidFill>
                  <a:srgbClr val="C41E24"/>
                </a:solidFill>
                <a:latin typeface="Syne"/>
              </a:defRPr>
            </a:pPr>
            <a:r>
              <a:t>{{BRAND_NAME}}</a:t>
            </a:r>
          </a:p>
          <a:p>
            <a:pPr>
              <a:defRPr sz="3200" b="1">
                <a:solidFill>
                  <a:srgbClr val="111111"/>
                </a:solidFill>
                <a:latin typeface="Space Grotesk"/>
              </a:defRPr>
            </a:pPr>
            <a:r>
              <a:t>{{PROJECT_NAME}}</a:t>
            </a:r>
          </a:p>
          <a:p>
            <a:pPr>
              <a:defRPr sz="1400">
                <a:solidFill>
                  <a:srgbClr val="111111"/>
                </a:solidFill>
              </a:defRPr>
            </a:pPr>
            <a:r>
              <a:t>──────────────────────────────────────────────</a:t>
            </a:r>
          </a:p>
          <a:p>
            <a:pPr>
              <a:defRPr sz="1400" b="1">
                <a:solidFill>
                  <a:srgbClr val="111111"/>
                </a:solidFill>
                <a:latin typeface="Space Grotesk"/>
              </a:defRPr>
            </a:pPr>
            <a:r>
              <a:t>CAMPAIGN YEAR: {{YEAR}}   •   AGENCY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48640"/>
            <a:ext cx="2926080" cy="365760"/>
          </a:xfrm>
          <a:prstGeom prst="rect">
            <a:avLst/>
          </a:prstGeom>
          <a:solidFill>
            <a:srgbClr val="C41E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pace Grotesk"/>
              </a:defRPr>
            </a:pPr>
            <a:r>
              <a:t>FRAMEFLOW • 01 / COLOURS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41148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COLOUR PALETTE DIRECTION</a:t>
            </a:r>
          </a:p>
        </p:txBody>
      </p:sp>
      <p:sp>
        <p:nvSpPr>
          <p:cNvPr id="6" name="SWATCH_PRIMARY"/>
          <p:cNvSpPr/>
          <p:nvPr/>
        </p:nvSpPr>
        <p:spPr>
          <a:xfrm>
            <a:off x="731520" y="1463040"/>
            <a:ext cx="3328416" cy="3840480"/>
          </a:xfrm>
          <a:prstGeom prst="rect">
            <a:avLst/>
          </a:prstGeom>
          <a:solidFill>
            <a:srgbClr val="111111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pace Grotesk"/>
              </a:defRPr>
            </a:pPr>
            <a:r>
              <a:t>PRIMARY COLOR</a:t>
            </a:r>
            <a:br/>
            <a:br/>
            <a:r>
              <a:t>{{PRIMARY_COLOR}}</a:t>
            </a:r>
          </a:p>
        </p:txBody>
      </p:sp>
      <p:sp>
        <p:nvSpPr>
          <p:cNvPr id="7" name="SWATCH_SECONDARY"/>
          <p:cNvSpPr/>
          <p:nvPr/>
        </p:nvSpPr>
        <p:spPr>
          <a:xfrm>
            <a:off x="4425696" y="1463040"/>
            <a:ext cx="3328416" cy="3840480"/>
          </a:xfrm>
          <a:prstGeom prst="rect">
            <a:avLst/>
          </a:prstGeom>
          <a:solidFill>
            <a:srgbClr val="C41E24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pace Grotesk"/>
              </a:defRPr>
            </a:pPr>
            <a:r>
              <a:t>SECONDARY COLOR</a:t>
            </a:r>
            <a:br/>
            <a:br/>
            <a:r>
              <a:t>{{SECONDARY_COLOR}}</a:t>
            </a:r>
          </a:p>
        </p:txBody>
      </p:sp>
      <p:sp>
        <p:nvSpPr>
          <p:cNvPr id="8" name="SWATCH_ACCENT"/>
          <p:cNvSpPr/>
          <p:nvPr/>
        </p:nvSpPr>
        <p:spPr>
          <a:xfrm>
            <a:off x="8119872" y="1463040"/>
            <a:ext cx="3328416" cy="3840480"/>
          </a:xfrm>
          <a:prstGeom prst="rect">
            <a:avLst/>
          </a:prstGeom>
          <a:solidFill>
            <a:srgbClr val="F5F2E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111"/>
                </a:solidFill>
                <a:latin typeface="Space Grotesk"/>
              </a:defRPr>
            </a:pPr>
            <a:r>
              <a:t>ACCENT COLOR</a:t>
            </a:r>
            <a:br/>
            <a:br/>
            <a:r>
              <a:t>{{ACCENT_COLOR}}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486400"/>
            <a:ext cx="10716768" cy="731520"/>
          </a:xfrm>
          <a:prstGeom prst="rect">
            <a:avLst/>
          </a:prstGeom>
          <a:solidFill>
            <a:srgbClr val="F5F2EB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111"/>
                </a:solidFill>
                <a:latin typeface="Space Grotesk"/>
              </a:defRPr>
            </a:pPr>
            <a:r>
              <a:t>PALETTE SPECS: Apply primary for structural frames &amp; headlines; secondary for campaign CTAs; accent for high-visibility highlights.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48640"/>
            <a:ext cx="2926080" cy="365760"/>
          </a:xfrm>
          <a:prstGeom prst="rect">
            <a:avLst/>
          </a:prstGeom>
          <a:solidFill>
            <a:srgbClr val="C41E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pace Grotesk"/>
              </a:defRPr>
            </a:pPr>
            <a:r>
              <a:t>FRAMEFLOW • 02 / TYPOGRAPHY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41148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TYPOGRAPHY HIERARCHY &amp; TYPEFACES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716768" cy="1463040"/>
          </a:xfrm>
          <a:prstGeom prst="rect">
            <a:avLst/>
          </a:prstGeom>
          <a:solidFill>
            <a:srgbClr val="F5F2EB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400" b="1">
                <a:solidFill>
                  <a:srgbClr val="C41E24"/>
                </a:solidFill>
                <a:latin typeface="Space Grotesk"/>
              </a:defRPr>
            </a:pPr>
            <a:r>
              <a:t>DISPLAY FONT: {{DISPLAY_FONT}}</a:t>
            </a:r>
          </a:p>
          <a:p>
            <a:pPr>
              <a:defRPr sz="2400" b="1">
                <a:solidFill>
                  <a:srgbClr val="111111"/>
                </a:solidFill>
                <a:latin typeface="Cormorant Garamond"/>
              </a:defRPr>
            </a:pPr>
            <a:r>
              <a:t>The Quick Brown Fox Jumps Over The Lazy Dog — 0123456789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0716768" cy="1463040"/>
          </a:xfrm>
          <a:prstGeom prst="rect">
            <a:avLst/>
          </a:prstGeom>
          <a:solidFill>
            <a:srgbClr val="F5F2EB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400" b="1">
                <a:solidFill>
                  <a:srgbClr val="C41E24"/>
                </a:solidFill>
                <a:latin typeface="Space Grotesk"/>
              </a:defRPr>
            </a:pPr>
            <a:r>
              <a:t>SECONDARY FONT: {{SECONDARY_FONT}}</a:t>
            </a:r>
          </a:p>
          <a:p>
            <a:pPr>
              <a:defRPr sz="2000" b="1">
                <a:solidFill>
                  <a:srgbClr val="111111"/>
                </a:solidFill>
                <a:latin typeface="Playfair Display"/>
              </a:defRPr>
            </a:pPr>
            <a:r>
              <a:t>Editorial story outlines, moodboard captions &amp; shoot direction notes.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54880"/>
            <a:ext cx="10716768" cy="1463040"/>
          </a:xfrm>
          <a:prstGeom prst="rect">
            <a:avLst/>
          </a:prstGeom>
          <a:solidFill>
            <a:srgbClr val="F5F2EB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400" b="1">
                <a:solidFill>
                  <a:srgbClr val="C41E24"/>
                </a:solidFill>
                <a:latin typeface="Space Grotesk"/>
              </a:defRPr>
            </a:pPr>
            <a:r>
              <a:t>CAPTION FONT: {{CAPTION_FONT}}</a:t>
            </a:r>
          </a:p>
          <a:p>
            <a:pPr>
              <a:defRPr sz="1600" b="1">
                <a:solidFill>
                  <a:srgbClr val="111111"/>
                </a:solidFill>
                <a:latin typeface="Inter"/>
              </a:defRPr>
            </a:pPr>
            <a:r>
              <a:t>TECHNICAL SPECS: 4K 60FPS | COLOR LOG-C | ASPECT RATIO 9:16 | BITRATE 100Mbps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48640"/>
            <a:ext cx="2926080" cy="365760"/>
          </a:xfrm>
          <a:prstGeom prst="rect">
            <a:avLst/>
          </a:prstGeom>
          <a:solidFill>
            <a:srgbClr val="C41E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pace Grotesk"/>
              </a:defRPr>
            </a:pPr>
            <a:r>
              <a:t>FRAMEFLOW • 03 / EDITING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41148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EDITING STYLE &amp; PACING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716768" cy="2194560"/>
          </a:xfrm>
          <a:prstGeom prst="rect">
            <a:avLst/>
          </a:prstGeom>
          <a:solidFill>
            <a:srgbClr val="F5F2EB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600" b="1">
                <a:solidFill>
                  <a:srgbClr val="C41E24"/>
                </a:solidFill>
                <a:latin typeface="Space Grotesk"/>
              </a:defRPr>
            </a:pPr>
            <a:r>
              <a:t>EDIT PACING INDICATOR</a:t>
            </a:r>
          </a:p>
        </p:txBody>
      </p:sp>
      <p:sp>
        <p:nvSpPr>
          <p:cNvPr id="7" name="PACING_TRACK"/>
          <p:cNvSpPr/>
          <p:nvPr/>
        </p:nvSpPr>
        <p:spPr>
          <a:xfrm>
            <a:off x="1097280" y="2468880"/>
            <a:ext cx="996696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CING_MARKER"/>
          <p:cNvSpPr/>
          <p:nvPr/>
        </p:nvSpPr>
        <p:spPr>
          <a:xfrm>
            <a:off x="1097280" y="2286000"/>
            <a:ext cx="1280160" cy="731520"/>
          </a:xfrm>
          <a:prstGeom prst="rect">
            <a:avLst/>
          </a:prstGeom>
          <a:solidFill>
            <a:srgbClr val="C41E24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pace Grotesk"/>
              </a:defRPr>
            </a:pPr>
            <a:r>
              <a:t>{{PACING}}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10716768" cy="2377440"/>
          </a:xfrm>
          <a:prstGeom prst="rect">
            <a:avLst/>
          </a:prstGeom>
          <a:solidFill>
            <a:srgbClr val="F5F2EB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600" b="1">
                <a:solidFill>
                  <a:srgbClr val="C41E24"/>
                </a:solidFill>
                <a:latin typeface="Space Grotesk"/>
              </a:defRPr>
            </a:pPr>
            <a:r>
              <a:t>EDIT VIBE &amp; TRANSITION STYLES:</a:t>
            </a:r>
          </a:p>
          <a:p>
            <a:pPr>
              <a:defRPr sz="2000" b="1">
                <a:solidFill>
                  <a:srgbClr val="111111"/>
                </a:solidFill>
                <a:latin typeface="Space Grotesk"/>
              </a:defRPr>
            </a:pPr>
            <a:r>
              <a:t>• {{EDIT_STYLE_1}}</a:t>
            </a:r>
            <a:br/>
            <a:r>
              <a:t>• {{EDIT_STYLE_2}}</a:t>
            </a:r>
            <a:br/>
            <a:r>
              <a:t>• {{EDIT_STYLE_3}}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48640"/>
            <a:ext cx="2926080" cy="365760"/>
          </a:xfrm>
          <a:prstGeom prst="rect">
            <a:avLst/>
          </a:prstGeom>
          <a:solidFill>
            <a:srgbClr val="C41E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pace Grotesk"/>
              </a:defRPr>
            </a:pPr>
            <a:r>
              <a:t>FRAMEFLOW • 04 / WARDROBE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41148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WARDROBE DIRECTION &amp; MOODBOARD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114800" cy="4754880"/>
          </a:xfrm>
          <a:prstGeom prst="rect">
            <a:avLst/>
          </a:prstGeom>
          <a:solidFill>
            <a:srgbClr val="F5F2EB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400" b="1">
                <a:solidFill>
                  <a:srgbClr val="C41E24"/>
                </a:solidFill>
                <a:latin typeface="Space Grotesk"/>
              </a:defRPr>
            </a:pPr>
            <a:r>
              <a:t>STYLE TONE</a:t>
            </a:r>
          </a:p>
          <a:p>
            <a:pPr>
              <a:defRPr sz="2000" b="1">
                <a:solidFill>
                  <a:srgbClr val="111111"/>
                </a:solidFill>
                <a:latin typeface="Space Grotesk"/>
              </a:defRPr>
            </a:pPr>
            <a:r>
              <a:t>{{WARDROBE_TONE}}</a:t>
            </a:r>
            <a:br/>
          </a:p>
          <a:p>
            <a:pPr>
              <a:defRPr sz="1400" b="1">
                <a:solidFill>
                  <a:srgbClr val="C41E24"/>
                </a:solidFill>
                <a:latin typeface="Space Grotesk"/>
              </a:defRPr>
            </a:pPr>
            <a:r>
              <a:t>COLOUR COMBINATIONS</a:t>
            </a:r>
          </a:p>
          <a:p>
            <a:pPr>
              <a:defRPr sz="1800" b="1">
                <a:solidFill>
                  <a:srgbClr val="111111"/>
                </a:solidFill>
                <a:latin typeface="Space Grotesk"/>
              </a:defRPr>
            </a:pPr>
            <a:r>
              <a:t>{{WARDROBE_COLORS}}</a:t>
            </a:r>
          </a:p>
        </p:txBody>
      </p:sp>
      <p:sp>
        <p:nvSpPr>
          <p:cNvPr id="7" name="{{WARDROBE_IMAGE_1}}"/>
          <p:cNvSpPr/>
          <p:nvPr/>
        </p:nvSpPr>
        <p:spPr>
          <a:xfrm>
            <a:off x="5120640" y="1463040"/>
            <a:ext cx="3108960" cy="4754880"/>
          </a:xfrm>
          <a:prstGeom prst="rect">
            <a:avLst/>
          </a:prstGeom>
          <a:solidFill>
            <a:srgbClr val="11111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5F2EB"/>
                </a:solidFill>
              </a:defRPr>
            </a:pPr>
            <a:r>
              <a:t>[ WARDROBE REF 01 ]</a:t>
            </a:r>
          </a:p>
        </p:txBody>
      </p:sp>
      <p:sp>
        <p:nvSpPr>
          <p:cNvPr id="8" name="{{WARDROBE_IMAGE_2}}"/>
          <p:cNvSpPr/>
          <p:nvPr/>
        </p:nvSpPr>
        <p:spPr>
          <a:xfrm>
            <a:off x="8412480" y="1463040"/>
            <a:ext cx="3035808" cy="4754880"/>
          </a:xfrm>
          <a:prstGeom prst="rect">
            <a:avLst/>
          </a:prstGeom>
          <a:solidFill>
            <a:srgbClr val="11111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5F2EB"/>
                </a:solidFill>
              </a:defRPr>
            </a:pPr>
            <a:r>
              <a:t>[ WARDROBE REF 02 ]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48640"/>
            <a:ext cx="2926080" cy="365760"/>
          </a:xfrm>
          <a:prstGeom prst="rect">
            <a:avLst/>
          </a:prstGeom>
          <a:solidFill>
            <a:srgbClr val="C41E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pace Grotesk"/>
              </a:defRPr>
            </a:pPr>
            <a:r>
              <a:t>FRAMEFLOW • 05 /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41148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BACKGROUND &amp; SHOOT LOCATIONS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114800" cy="4754880"/>
          </a:xfrm>
          <a:prstGeom prst="rect">
            <a:avLst/>
          </a:prstGeom>
          <a:solidFill>
            <a:srgbClr val="F5F2EB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400" b="1">
                <a:solidFill>
                  <a:srgbClr val="C41E24"/>
                </a:solidFill>
                <a:latin typeface="Space Grotesk"/>
              </a:defRPr>
            </a:pPr>
            <a:r>
              <a:t>BACKGROUND TONE</a:t>
            </a:r>
          </a:p>
          <a:p>
            <a:pPr>
              <a:defRPr sz="2000" b="1">
                <a:solidFill>
                  <a:srgbClr val="111111"/>
                </a:solidFill>
                <a:latin typeface="Space Grotesk"/>
              </a:defRPr>
            </a:pPr>
            <a:r>
              <a:t>{{BACKGROUND_TONE}}</a:t>
            </a:r>
            <a:br/>
          </a:p>
          <a:p>
            <a:pPr>
              <a:defRPr sz="1400" b="1">
                <a:solidFill>
                  <a:srgbClr val="C41E24"/>
                </a:solidFill>
                <a:latin typeface="Space Grotesk"/>
              </a:defRPr>
            </a:pPr>
            <a:r>
              <a:t>KEY LOCATIONS</a:t>
            </a:r>
          </a:p>
          <a:p>
            <a:pPr>
              <a:defRPr sz="1800" b="1">
                <a:solidFill>
                  <a:srgbClr val="111111"/>
                </a:solidFill>
                <a:latin typeface="Space Grotesk"/>
              </a:defRPr>
            </a:pPr>
            <a:r>
              <a:t>{{BACKGROUND_LOCATIONS}}</a:t>
            </a:r>
          </a:p>
        </p:txBody>
      </p:sp>
      <p:sp>
        <p:nvSpPr>
          <p:cNvPr id="7" name="{{BACKGROUND_IMAGE_1}}"/>
          <p:cNvSpPr/>
          <p:nvPr/>
        </p:nvSpPr>
        <p:spPr>
          <a:xfrm>
            <a:off x="5120640" y="1463040"/>
            <a:ext cx="3108960" cy="4754880"/>
          </a:xfrm>
          <a:prstGeom prst="rect">
            <a:avLst/>
          </a:prstGeom>
          <a:solidFill>
            <a:srgbClr val="11111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5F2EB"/>
                </a:solidFill>
              </a:defRPr>
            </a:pPr>
            <a:r>
              <a:t>[ BACKGROUND REF 01 ]</a:t>
            </a:r>
          </a:p>
        </p:txBody>
      </p:sp>
      <p:sp>
        <p:nvSpPr>
          <p:cNvPr id="8" name="{{BACKGROUND_IMAGE_2}}"/>
          <p:cNvSpPr/>
          <p:nvPr/>
        </p:nvSpPr>
        <p:spPr>
          <a:xfrm>
            <a:off x="8412480" y="1463040"/>
            <a:ext cx="3035808" cy="4754880"/>
          </a:xfrm>
          <a:prstGeom prst="rect">
            <a:avLst/>
          </a:prstGeom>
          <a:solidFill>
            <a:srgbClr val="11111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5F2EB"/>
                </a:solidFill>
              </a:defRPr>
            </a:pPr>
            <a:r>
              <a:t>[ BACKGROUND REF 02 ]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